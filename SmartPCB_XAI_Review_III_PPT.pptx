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21" r:id="rId4"/>
    <p:sldId id="258" r:id="rId5"/>
    <p:sldId id="259" r:id="rId6"/>
    <p:sldId id="322" r:id="rId7"/>
    <p:sldId id="260" r:id="rId8"/>
    <p:sldId id="261" r:id="rId9"/>
    <p:sldId id="277" r:id="rId10"/>
    <p:sldId id="323" r:id="rId11"/>
    <p:sldId id="324" r:id="rId12"/>
    <p:sldId id="325" r:id="rId13"/>
    <p:sldId id="320" r:id="rId14"/>
    <p:sldId id="271" r:id="rId15"/>
    <p:sldId id="273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Jc3Z0smX9EyZT2FwhLWxfI6ex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30072D-8769-411D-B839-C114B858BE93}">
  <a:tblStyle styleId="{9430072D-8769-411D-B839-C114B858BE9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tcBdr/>
        <a:fill>
          <a:solidFill>
            <a:srgbClr val="CA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75BC18F9-57DC-7159-21D9-8E37A7462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4dc4dbbf4_0_28:notes">
            <a:extLst>
              <a:ext uri="{FF2B5EF4-FFF2-40B4-BE49-F238E27FC236}">
                <a16:creationId xmlns:a16="http://schemas.microsoft.com/office/drawing/2014/main" id="{EC02A0FB-4AB0-6EE1-441E-C0EC384090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34dc4dbbf4_0_28:notes">
            <a:extLst>
              <a:ext uri="{FF2B5EF4-FFF2-40B4-BE49-F238E27FC236}">
                <a16:creationId xmlns:a16="http://schemas.microsoft.com/office/drawing/2014/main" id="{486C99F5-D232-EEDE-4EBD-3A9FD1A8C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142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DE11161-5011-3F98-2983-14EA6E34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C2B84CA-F576-350C-65E5-0385BE29B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5B3F535-7E34-6C7C-7487-E1D59212C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612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52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1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49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1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529"/>
                </a:srgbClr>
              </a:gs>
              <a:gs pos="100000">
                <a:srgbClr val="00E9F7">
                  <a:alpha val="5372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8627"/>
                </a:srgbClr>
              </a:gs>
              <a:gs pos="80000">
                <a:srgbClr val="0099E4">
                  <a:alpha val="43529"/>
                </a:srgbClr>
              </a:gs>
              <a:gs pos="100000">
                <a:srgbClr val="0099E4">
                  <a:alpha val="4352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4638554" y="236243"/>
            <a:ext cx="7421980" cy="189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algn="ctr" fontAlgn="b"/>
            <a:r>
              <a:rPr lang="en-IN" sz="2800" b="1" dirty="0">
                <a:solidFill>
                  <a:srgbClr val="C00000"/>
                </a:solidFill>
                <a:latin typeface="Times New Roman"/>
              </a:rPr>
              <a:t>SMARTPCB-XAI: A Dual-Head Deep Learning Framework for Explainable PCB Inspection, Deterministic Quality Auditing, and Digital Twin Synthesis</a:t>
            </a:r>
            <a:endParaRPr sz="2800" b="1" dirty="0">
              <a:solidFill>
                <a:srgbClr val="C00000"/>
              </a:solidFill>
              <a:latin typeface="Times New Roman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101" name="Google Shape;101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4638554" y="3008306"/>
            <a:ext cx="6249839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600" b="1" dirty="0">
                <a:solidFill>
                  <a:schemeClr val="bg2"/>
                </a:solidFill>
                <a:latin typeface="Times New Roman"/>
              </a:rPr>
              <a:t>PROJECT MEMBERS</a:t>
            </a:r>
            <a:r>
              <a:rPr sz="1600" b="1" dirty="0">
                <a:latin typeface="Times New Roman"/>
              </a:rPr>
              <a:t>
ABISHA REBEKKAL T  – 23ITR001
GOWRI D  </a:t>
            </a:r>
            <a:r>
              <a:rPr lang="en-US" sz="1600" b="1" dirty="0">
                <a:latin typeface="Times New Roman"/>
              </a:rPr>
              <a:t>                        </a:t>
            </a:r>
            <a:r>
              <a:rPr sz="1600" b="1" dirty="0">
                <a:latin typeface="Times New Roman"/>
              </a:rPr>
              <a:t>– 23ITR048
</a:t>
            </a:r>
            <a:r>
              <a:rPr sz="1600" b="1" dirty="0">
                <a:solidFill>
                  <a:schemeClr val="bg2"/>
                </a:solidFill>
                <a:latin typeface="Times New Roman"/>
              </a:rPr>
              <a:t>PROJECT GUIDE</a:t>
            </a:r>
            <a:r>
              <a:rPr sz="1600" b="1" dirty="0">
                <a:latin typeface="Times New Roman"/>
              </a:rPr>
              <a:t>
Ms. M. E. PRATHIKA
ASSISTANT PROFESSOR / DEPARTMENT OF IT
KONGU ENGINEERING COLLEGE</a:t>
            </a:r>
            <a:endParaRPr lang="en-US"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"/>
    </mc:Choice>
    <mc:Fallback xmlns="">
      <p:transition spd="slow" advTm="32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4240209" y="409487"/>
            <a:ext cx="435864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400" b="1" dirty="0">
                <a:solidFill>
                  <a:srgbClr val="C00000"/>
                </a:solidFill>
                <a:latin typeface="Times New Roman"/>
              </a:rPr>
              <a:t>Objectives</a:t>
            </a:r>
            <a:endParaRPr sz="4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554479" y="1417320"/>
            <a:ext cx="10204383" cy="47489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Develop an intelligent PCB inspection platform using YOLOv11-based computer vision.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Detect PCB components and manufacturing defects from inspection images.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Provide visual AI explanations for defect predictions using an XAI heatmap.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Calculate a deterministic project-defined defect severity and PCB quality score.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Generate possible-cause and repair recommendations using a rule-based knowledge base.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Provide Digital Twin visualization, inspection analytics, and PDF/Excel reports.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7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Integrate the AI service, backend, frontend, database, and feedback workflow into one Industry 4.0 platform.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"/>
    </mc:Choice>
    <mc:Fallback xmlns="">
      <p:transition spd="slow" advTm="19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09B21E-C64C-3487-83DE-220D4DA0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168" y="-321845"/>
            <a:ext cx="109728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241654-70C1-30D4-F081-A012CB77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904" y="821156"/>
            <a:ext cx="10475495" cy="5503446"/>
          </a:xfrm>
        </p:spPr>
        <p:txBody>
          <a:bodyPr/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PCB inspection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time-consuming, subjective and prone to human 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AI-based inspection methods mainly focus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components or defects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limited explanation and decision support.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SmartPCB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proposed as an intelligent PCB inspection platform combining: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component and defect detection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and PCB quality assessment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Possible-cause and repair recommendations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inspection dashboard and reporting 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support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consistent and explainable PCB quality inspection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Industry 4.0.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A35C2-1FA0-3658-2218-83E1740CD6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644067" y="105378"/>
            <a:ext cx="3966949" cy="61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4000" b="1" dirty="0">
                <a:solidFill>
                  <a:srgbClr val="C00000"/>
                </a:solidFill>
                <a:latin typeface="Times New Roman"/>
              </a:rPr>
              <a:t>Literature Review</a:t>
            </a:r>
            <a:endParaRPr sz="4000" dirty="0">
              <a:solidFill>
                <a:srgbClr val="C00000"/>
              </a:solidFill>
            </a:endParaRPr>
          </a:p>
        </p:txBody>
      </p:sp>
      <p:graphicFrame>
        <p:nvGraphicFramePr>
          <p:cNvPr id="118" name="Google Shape;118;p4"/>
          <p:cNvGraphicFramePr/>
          <p:nvPr>
            <p:extLst>
              <p:ext uri="{D42A27DB-BD31-4B8C-83A1-F6EECF244321}">
                <p14:modId xmlns:p14="http://schemas.microsoft.com/office/powerpoint/2010/main" val="3129670685"/>
              </p:ext>
            </p:extLst>
          </p:nvPr>
        </p:nvGraphicFramePr>
        <p:xfrm>
          <a:off x="1360967" y="993990"/>
          <a:ext cx="10336975" cy="4870020"/>
        </p:xfrm>
        <a:graphic>
          <a:graphicData uri="http://schemas.openxmlformats.org/drawingml/2006/table">
            <a:tbl>
              <a:tblPr firstRow="1" bandRow="1">
                <a:tableStyleId>{9430072D-8769-411D-B839-C114B858BE93}</a:tableStyleId>
              </a:tblPr>
              <a:tblGrid>
                <a:gridCol w="79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4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27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TITLE OF THE PAPER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JOURNAL NAME,YEAR</a:t>
                      </a:r>
                      <a:endParaRPr sz="18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ALGORITHM/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13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lang="en-US" sz="1600" b="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lang="en-US" sz="1600" b="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1.</a:t>
                      </a:r>
                      <a:endParaRPr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Few-Shot Adaptation of Foundation Vision Models for PCB Defect Inspection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MDPI (2025)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Few-Shot Learning + Foundation Models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Needs adaptation for different PCB types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5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    2.</a:t>
                      </a:r>
                      <a:endParaRPr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PCB Defect Detection Algorithm Based on CDI-YOLO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Scientific Reports (2024)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YOLOv7-tiny + Coordinate Attention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Still requires </a:t>
                      </a: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6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Improved PCB Defect Detection Scheme (PD-YOLOv8)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Scientific Reports (2025)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YOLOv8 + </a:t>
                      </a: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ECANet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Attention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Focus only on defect detection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8210767"/>
                  </a:ext>
                </a:extLst>
              </a:tr>
            </a:tbl>
          </a:graphicData>
        </a:graphic>
      </p:graphicFrame>
      <p:sp>
        <p:nvSpPr>
          <p:cNvPr id="119" name="Google Shape;119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120" name="Table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713098"/>
              </p:ext>
            </p:extLst>
          </p:nvPr>
        </p:nvGraphicFramePr>
        <p:xfrm>
          <a:off x="834190" y="993990"/>
          <a:ext cx="11149264" cy="533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7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7829"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chemeClr val="bg1"/>
                          </a:solidFill>
                          <a:latin typeface="Times New Roman"/>
                        </a:rPr>
                        <a:t>S.No</a:t>
                      </a:r>
                      <a:endParaRPr sz="2400" b="1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Algorithm / Methodology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Limitation / Research Gap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829"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FICS-PCB: A Multi-Modal Image Dataset for Automated PCB Visual Inspection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FICS-PCB dataset; multimodal PCB component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Dataset diversity and domain variation remain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82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On-line PCB Defect Detector on a New PCB Defect Dataset (</a:t>
                      </a:r>
                      <a:r>
                        <a:rPr sz="180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DeepPCB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, 2019)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DeepPCB benchmark; six PCB defect categories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Detection-focused; no integrated XAI or repair guidance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82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Few-Shot Adaptation of Foundation Vision Models for PCB Defect Inspection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Few-shot learning + foundation vision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Requires adaptation for different PCB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82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PCB Defect Detection Algorithm Based on CDI-YOLO (2024)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chemeClr val="tx1"/>
                          </a:solidFill>
                          <a:latin typeface="Times New Roman"/>
                        </a:rPr>
                        <a:t>YOLOv7-tiny + Coordinate Attention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</a:rPr>
                        <a:t>Still depends on labelled training data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"/>
    </mc:Choice>
    <mc:Fallback xmlns="">
      <p:transition spd="slow" advTm="1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3481137" y="188143"/>
            <a:ext cx="5754940" cy="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4000" b="1" dirty="0">
                <a:solidFill>
                  <a:srgbClr val="C00000"/>
                </a:solidFill>
                <a:latin typeface="Times New Roman"/>
              </a:rPr>
              <a:t>Literature Review</a:t>
            </a:r>
            <a:endParaRPr sz="4000" dirty="0">
              <a:solidFill>
                <a:srgbClr val="C00000"/>
              </a:solidFill>
            </a:endParaRPr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28" name="Table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490020"/>
              </p:ext>
            </p:extLst>
          </p:nvPr>
        </p:nvGraphicFramePr>
        <p:xfrm>
          <a:off x="1214754" y="1010653"/>
          <a:ext cx="10720571" cy="4797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2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8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6235">
                <a:tc>
                  <a:txBody>
                    <a:bodyPr/>
                    <a:lstStyle/>
                    <a:p>
                      <a:r>
                        <a:rPr sz="2000" b="1" dirty="0" err="1">
                          <a:latin typeface="Times New Roman"/>
                        </a:rPr>
                        <a:t>S.No</a:t>
                      </a:r>
                      <a:endParaRPr sz="2000" b="1" dirty="0">
                        <a:latin typeface="Times New Roman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latin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Algorithm / Methodology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latin typeface="Times New Roman"/>
                        </a:rPr>
                        <a:t>Limitation / Research Gap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3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Improved PCB Defect Detection Scheme – PD-YOLOv8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YOLOv8 + ECANet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Focuses mainly on defect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33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Enhanced YOLOv11 Framework for PCB Defect Detection (2025)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Advanced YOLOv11-based framework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Higher model complexity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33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YOLO-HDEW: Efficient PCB Defect Detection Model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YOLOv8 + enhanced detection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Limited to defect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22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tx1"/>
                          </a:solidFill>
                          <a:latin typeface="Times New Roman"/>
                        </a:rPr>
                        <a:t>A Lightweight PCB Defect Detection Algorithm Based on an Improved YOLOv11s (2026)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EfficientViT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 + </a:t>
                      </a: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PConv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/EMA + Inner-Wise-</a:t>
                      </a:r>
                      <a:r>
                        <a:rPr sz="160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IoU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</a:rPr>
                        <a:t>Optimized for defect detection; does not provide the full inspection + XAI + analytics workflow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1214754" y="5958990"/>
            <a:ext cx="10720571" cy="748287"/>
          </a:xfrm>
          <a:prstGeom prst="roundRect">
            <a:avLst/>
          </a:prstGeom>
          <a:solidFill>
            <a:srgbClr val="EBF5EB"/>
          </a:solidFill>
          <a:ln>
            <a:solidFill>
              <a:srgbClr val="78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  <a:latin typeface="Times New Roman"/>
              </a:rPr>
              <a:t>Research Gap: Existing studies largely isolate detection; </a:t>
            </a:r>
            <a:r>
              <a:rPr sz="1600" b="1" dirty="0" err="1">
                <a:solidFill>
                  <a:schemeClr val="tx1"/>
                </a:solidFill>
                <a:latin typeface="Times New Roman"/>
              </a:rPr>
              <a:t>SmartPCB</a:t>
            </a:r>
            <a:r>
              <a:rPr sz="1600" b="1" dirty="0">
                <a:solidFill>
                  <a:schemeClr val="tx1"/>
                </a:solidFill>
                <a:latin typeface="Times New Roman"/>
              </a:rPr>
              <a:t>-XAI integrates detection, explanation, severity, recommendations, analytics and reporting.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"/>
    </mc:Choice>
    <mc:Fallback xmlns="">
      <p:transition spd="slow" advTm="15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4AB6-1158-5F6A-217A-15C72131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610" y="-225592"/>
            <a:ext cx="109728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Literature Review</a:t>
            </a:r>
            <a:endParaRPr lang="en-IN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47F20-E22E-CCEC-1ED7-35C8593CFC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0FCD8D-75AA-DC48-0576-EB2F4D11E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470337"/>
              </p:ext>
            </p:extLst>
          </p:nvPr>
        </p:nvGraphicFramePr>
        <p:xfrm>
          <a:off x="1155032" y="1235242"/>
          <a:ext cx="10427367" cy="4926364"/>
        </p:xfrm>
        <a:graphic>
          <a:graphicData uri="http://schemas.openxmlformats.org/drawingml/2006/table">
            <a:tbl>
              <a:tblPr/>
              <a:tblGrid>
                <a:gridCol w="3475789">
                  <a:extLst>
                    <a:ext uri="{9D8B030D-6E8A-4147-A177-3AD203B41FA5}">
                      <a16:colId xmlns:a16="http://schemas.microsoft.com/office/drawing/2014/main" val="281492713"/>
                    </a:ext>
                  </a:extLst>
                </a:gridCol>
                <a:gridCol w="3475789">
                  <a:extLst>
                    <a:ext uri="{9D8B030D-6E8A-4147-A177-3AD203B41FA5}">
                      <a16:colId xmlns:a16="http://schemas.microsoft.com/office/drawing/2014/main" val="1354093203"/>
                    </a:ext>
                  </a:extLst>
                </a:gridCol>
                <a:gridCol w="3475789">
                  <a:extLst>
                    <a:ext uri="{9D8B030D-6E8A-4147-A177-3AD203B41FA5}">
                      <a16:colId xmlns:a16="http://schemas.microsoft.com/office/drawing/2014/main" val="3264097228"/>
                    </a:ext>
                  </a:extLst>
                </a:gridCol>
              </a:tblGrid>
              <a:tr h="63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Existing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Limitation Identified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818411"/>
                  </a:ext>
                </a:extLst>
              </a:tr>
              <a:tr h="63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PCB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FICS-PCB, DeepPCB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Dataset diversity and labelling challenges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521566"/>
                  </a:ext>
                </a:extLst>
              </a:tr>
              <a:tr h="63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YOLO-based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YOLOv5, YOLOv7, YOLOv8, YOLOv11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Mainly focuses on detection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737971"/>
                  </a:ext>
                </a:extLst>
              </a:tr>
              <a:tr h="63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Attention-based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Coordinate Attention, ECANet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Increased model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498"/>
                  </a:ext>
                </a:extLst>
              </a:tr>
              <a:tr h="63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Lightweight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Improved YOLO variants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Accuracy/complexity trade-off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37458"/>
                  </a:ext>
                </a:extLst>
              </a:tr>
              <a:tr h="639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Foundation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Few-shot / foundation vision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Requires adaptation to different PCB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59189"/>
                  </a:ext>
                </a:extLst>
              </a:tr>
              <a:tr h="1087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Explainable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Grad-CAM / Grad-CAM++ approaches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Explanation is often separate from complete inspection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7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70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390822" y="260384"/>
            <a:ext cx="613417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400" b="1" dirty="0">
                <a:solidFill>
                  <a:srgbClr val="C00000"/>
                </a:solidFill>
                <a:latin typeface="Times New Roman"/>
              </a:rPr>
              <a:t>Problem Description</a:t>
            </a:r>
            <a:endParaRPr sz="4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325880" y="1417320"/>
            <a:ext cx="5074920" cy="492852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65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Manual PCB inspection is slow, subjective and affected by operator fatigue.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5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Industrial AOI systems can be costly and may generate false alarms.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5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Many AI inspection models stop at defect/component localization.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5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A detection result alone does not explain why the model made the decision.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5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Severity, board-level quality and actionable repair guidance are often separated from detection.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300330" y="1415227"/>
            <a:ext cx="4343400" cy="566928"/>
          </a:xfrm>
          <a:prstGeom prst="roundRect">
            <a:avLst/>
          </a:prstGeom>
          <a:solidFill>
            <a:srgbClr val="E1EBFA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700" b="1" dirty="0">
                <a:solidFill>
                  <a:srgbClr val="C00000"/>
                </a:solidFill>
                <a:latin typeface="Times New Roman"/>
              </a:rPr>
              <a:t>Need for an Integrated Smart Inspection Platform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353301" y="2168304"/>
            <a:ext cx="4343400" cy="40693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Component + defect detection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Explainable AI output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Severity and quality scoring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Possible-cause and repair recommendations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Digital Twin + analytics</a:t>
            </a:r>
            <a:br>
              <a:rPr lang="en-US" sz="2000" dirty="0"/>
            </a:br>
            <a:endParaRPr sz="2000" dirty="0"/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E1E1E"/>
                </a:solidFill>
                <a:latin typeface="Times New Roman"/>
              </a:defRPr>
            </a:pPr>
            <a:r>
              <a:rPr sz="2000" dirty="0"/>
              <a:t>• Automated PDF / Excel reporting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2"/>
    </mc:Choice>
    <mc:Fallback xmlns="">
      <p:transition spd="slow" advTm="123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>
                <a:solidFill>
                  <a:schemeClr val="tx1"/>
                </a:solidFill>
              </a:rPr>
              <a:t>8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B9D138-7461-368C-469D-D76AFDA67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2" y="0"/>
            <a:ext cx="1142197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653"/>
    </mc:Choice>
    <mc:Fallback xmlns="">
      <p:transition spd="slow" advTm="2965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EAC4146-CD54-7E8A-9569-E7C2AE59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4dc4dbbf4_0_28">
            <a:extLst>
              <a:ext uri="{FF2B5EF4-FFF2-40B4-BE49-F238E27FC236}">
                <a16:creationId xmlns:a16="http://schemas.microsoft.com/office/drawing/2014/main" id="{1EE54BA2-DFE2-E0AD-FB11-AA1AD9842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05413" y="171827"/>
            <a:ext cx="6504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pPr lvl="0" algn="ctr">
              <a:buClr>
                <a:schemeClr val="dk1"/>
              </a:buClr>
            </a:pPr>
            <a:r>
              <a:rPr sz="4400" b="1" dirty="0">
                <a:solidFill>
                  <a:srgbClr val="C00000"/>
                </a:solidFill>
                <a:latin typeface="Times New Roman"/>
              </a:rPr>
              <a:t>Software / Tools Used</a:t>
            </a:r>
            <a:endParaRPr sz="4400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9" name="Google Shape;159;g334dc4dbbf4_0_28">
            <a:extLst>
              <a:ext uri="{FF2B5EF4-FFF2-40B4-BE49-F238E27FC236}">
                <a16:creationId xmlns:a16="http://schemas.microsoft.com/office/drawing/2014/main" id="{F720F2D0-A10E-B127-A6C2-1B737F9C69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976513" y="1234440"/>
            <a:ext cx="5257800" cy="4526280"/>
          </a:xfrm>
          <a:prstGeom prst="roundRect">
            <a:avLst/>
          </a:prstGeom>
          <a:solidFill>
            <a:srgbClr val="E6EEFA"/>
          </a:solidFill>
          <a:ln>
            <a:solidFill>
              <a:srgbClr val="64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900" b="1" dirty="0">
                <a:latin typeface="Times New Roman"/>
              </a:rPr>
              <a:t>AI / Computer Vision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86840" y="1490121"/>
            <a:ext cx="4709160" cy="41334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Python 3 + </a:t>
            </a:r>
            <a:r>
              <a:rPr sz="2400" dirty="0" err="1"/>
              <a:t>PyTorch</a:t>
            </a:r>
            <a:endParaRPr sz="2400" dirty="0"/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</a:t>
            </a:r>
            <a:r>
              <a:rPr sz="2400" dirty="0" err="1"/>
              <a:t>Ultralytics</a:t>
            </a:r>
            <a:r>
              <a:rPr sz="2400" dirty="0"/>
              <a:t> YOLOv11s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OpenCV + Pillow + NumPy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CLAHE preprocessing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High-resolution tiled inference + NMS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XAI: activation-energy heatmap approximation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</a:t>
            </a:r>
            <a:r>
              <a:rPr sz="2400" dirty="0" err="1"/>
              <a:t>DeepPCB</a:t>
            </a:r>
            <a:r>
              <a:rPr sz="2400" dirty="0"/>
              <a:t> + FICS-PCB based datasets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492240" y="1234440"/>
            <a:ext cx="5257800" cy="4526280"/>
          </a:xfrm>
          <a:prstGeom prst="roundRect">
            <a:avLst/>
          </a:prstGeom>
          <a:solidFill>
            <a:srgbClr val="EBF5EB"/>
          </a:solidFill>
          <a:ln>
            <a:solidFill>
              <a:srgbClr val="649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900" b="1" dirty="0">
                <a:latin typeface="Times New Roman"/>
              </a:rPr>
              <a:t>Platform / Development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857413" y="1467541"/>
            <a:ext cx="4709160" cy="376410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</a:t>
            </a:r>
            <a:r>
              <a:rPr sz="2400" dirty="0" err="1"/>
              <a:t>FastAPI</a:t>
            </a:r>
            <a:r>
              <a:rPr sz="2400" dirty="0"/>
              <a:t> – AI inference service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Node.js + Express – backend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MongoDB – inspection / feedback data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React + TypeScript + Vite + </a:t>
            </a:r>
            <a:r>
              <a:rPr sz="2400" dirty="0" err="1"/>
              <a:t>TailwindCSS</a:t>
            </a:r>
            <a:endParaRPr sz="2400" dirty="0"/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</a:t>
            </a:r>
            <a:r>
              <a:rPr sz="2400" dirty="0" err="1"/>
              <a:t>ReportLab</a:t>
            </a:r>
            <a:r>
              <a:rPr sz="2400" dirty="0"/>
              <a:t> – PDF reports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</a:t>
            </a:r>
            <a:r>
              <a:rPr sz="2400" dirty="0" err="1"/>
              <a:t>OpenPyXL</a:t>
            </a:r>
            <a:r>
              <a:rPr sz="2400" dirty="0"/>
              <a:t> – Excel reports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50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Git / Kaggle GPU workflow</a:t>
            </a:r>
          </a:p>
        </p:txBody>
      </p:sp>
    </p:spTree>
    <p:extLst>
      <p:ext uri="{BB962C8B-B14F-4D97-AF65-F5344CB8AC3E}">
        <p14:creationId xmlns:p14="http://schemas.microsoft.com/office/powerpoint/2010/main" val="155821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"/>
    </mc:Choice>
    <mc:Fallback xmlns="">
      <p:transition spd="slow" advTm="42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84DD-7565-E9AA-3606-70051AC7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779" y="-193508"/>
            <a:ext cx="109728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</a:rPr>
              <a:t>Description of Each Phase/Block</a:t>
            </a:r>
            <a:endParaRPr lang="en-IN" sz="4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A659D-4478-831F-ED9A-416C0863FE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27A2D-9AAD-DC4B-40CE-D83115F54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05" y="0"/>
            <a:ext cx="11338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13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4D5D-3377-2EC1-8C4C-D2519C43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716" y="-305802"/>
            <a:ext cx="109728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</a:rPr>
              <a:t>Screenshots</a:t>
            </a:r>
            <a:endParaRPr lang="en-IN" sz="4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4DB3D-DEE8-BF64-20BF-5AD05456DD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89AB9-5ABF-7145-9D4B-EA52ED5B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44" y="837198"/>
            <a:ext cx="6213108" cy="2546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FD1082-A53E-5A2E-913B-BD27CF79A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870" y="837197"/>
            <a:ext cx="4778627" cy="60208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E5255E-7DAB-F497-4025-315248961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29" y="3474162"/>
            <a:ext cx="6213108" cy="338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42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8711-DE35-E007-3015-B604F348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8D15-D14F-6EC4-6A29-0C425F9C1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A28E7-9344-8F9A-F7F4-56DC192F15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DA6774-3532-08B5-0EED-835AE570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6" y="3236705"/>
            <a:ext cx="5921252" cy="36139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D46ACF-4A5D-C0FF-DEF8-76590214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5" y="7338"/>
            <a:ext cx="5921253" cy="3193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730357-5591-E7AC-3F67-86829D4D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339"/>
            <a:ext cx="6066504" cy="684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7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6CF97A8C-C616-4D91-0B86-DDFBEE02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258C39-779D-474E-6632-1CF06A4BE2F9}"/>
              </a:ext>
            </a:extLst>
          </p:cNvPr>
          <p:cNvSpPr txBox="1"/>
          <p:nvPr/>
        </p:nvSpPr>
        <p:spPr>
          <a:xfrm>
            <a:off x="1299411" y="389394"/>
            <a:ext cx="11221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C00000"/>
                </a:solidFill>
                <a:latin typeface="Times New Roman"/>
              </a:rPr>
              <a:t>SUSTAINABLE DEVELOPMENT GOALS (SDGs)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828800"/>
            <a:ext cx="3337560" cy="3611880"/>
          </a:xfrm>
          <a:prstGeom prst="roundRect">
            <a:avLst/>
          </a:prstGeom>
          <a:solidFill>
            <a:srgbClr val="EBF0FA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Times New Roman"/>
              </a:rPr>
              <a:t>SDG 9
INDUSTRY, INNOVATION
AND INFRASTRUCTURE
Smart manufacturing,
AI-based inspection and
Industry 4.0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49140" y="1828800"/>
            <a:ext cx="3337560" cy="3611880"/>
          </a:xfrm>
          <a:prstGeom prst="roundRect">
            <a:avLst/>
          </a:prstGeom>
          <a:solidFill>
            <a:srgbClr val="EBF5EB"/>
          </a:solidFill>
          <a:ln>
            <a:solidFill>
              <a:srgbClr val="649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Times New Roman"/>
              </a:rPr>
              <a:t>SDG 12
RESPONSIBLE CONSUMPTION
AND PRODUCTION
Early defect detection
reduces rework, scrap and
avoidable production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37560" cy="3611880"/>
          </a:xfrm>
          <a:prstGeom prst="roundRect">
            <a:avLst/>
          </a:prstGeom>
          <a:solidFill>
            <a:srgbClr val="FAF5EB"/>
          </a:solidFill>
          <a:ln>
            <a:solidFill>
              <a:srgbClr val="A5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SDG 8
DECENT WORK AND
ECONOMIC GROWTH
AI assists engineers with
consistent inspection,
analytics and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6057126"/>
            <a:ext cx="100584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Primary alignment: SDG 9 and SDG 12</a:t>
            </a:r>
          </a:p>
        </p:txBody>
      </p:sp>
    </p:spTree>
    <p:extLst>
      <p:ext uri="{BB962C8B-B14F-4D97-AF65-F5344CB8AC3E}">
        <p14:creationId xmlns:p14="http://schemas.microsoft.com/office/powerpoint/2010/main" val="2368605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4090737" y="269922"/>
            <a:ext cx="3392855" cy="64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4400" b="1" dirty="0">
                <a:solidFill>
                  <a:srgbClr val="C00000"/>
                </a:solidFill>
                <a:latin typeface="Times New Roman"/>
              </a:rPr>
              <a:t>References</a:t>
            </a:r>
            <a:endParaRPr sz="4400" dirty="0">
              <a:solidFill>
                <a:srgbClr val="C00000"/>
              </a:solidFill>
            </a:endParaRPr>
          </a:p>
        </p:txBody>
      </p:sp>
      <p:sp>
        <p:nvSpPr>
          <p:cNvPr id="231" name="Google Shape;231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868680" y="1325880"/>
            <a:ext cx="10698480" cy="53055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[1] B. Shakya et al., “FICS-PCB: A multi-modal image dataset for automated PCB visual inspection,” IEEE TVLSI, 2020.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[2] S. Tang et al., “On-line PCB defect detector on a new PCB defect dataset,” arXiv:1902.06197, 2019.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[3] R. R. Selvaraju et al., “Grad-CAM: Visual explanations from deep networks via gradient-based localization,” ICCV, 2017.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[4] A. </a:t>
            </a:r>
            <a:r>
              <a:rPr sz="2400" dirty="0" err="1"/>
              <a:t>Chattopadhay</a:t>
            </a:r>
            <a:r>
              <a:rPr sz="2400" dirty="0"/>
              <a:t> et al., “Grad-CAM++: Generalized gradient-based visual explanations,” WACV, 2018.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[5] </a:t>
            </a:r>
            <a:r>
              <a:rPr sz="2400" dirty="0" err="1"/>
              <a:t>Ultralytics</a:t>
            </a:r>
            <a:r>
              <a:rPr sz="2400" dirty="0"/>
              <a:t>, “YOLOv11: State-of-the-Art Real-Time Object Detection,” 2024.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[6] IPC, “Acceptability of Electronic Assemblies (IPC-A-610G),” 2017.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[7] F. Tao et al., “Digital twin in industry: State-of-the-art,” IEEE TII, 2019.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1E1E1E"/>
                </a:solidFill>
                <a:latin typeface="Times New Roman"/>
              </a:defRPr>
            </a:pPr>
            <a:r>
              <a:rPr sz="2400" dirty="0"/>
              <a:t>• [8] X. Ye et al., “A Lightweight PCB Defect Detection Algorithm Based on an Improved YOLOv11s,” IEEE Access, 2026, DOI: 10.1109/ACCESS.2026.3678967.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"/>
    </mc:Choice>
    <mc:Fallback xmlns="">
      <p:transition spd="slow" advTm="22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 txBox="1">
            <a:spLocks noGrp="1"/>
          </p:cNvSpPr>
          <p:nvPr>
            <p:ph type="title"/>
          </p:nvPr>
        </p:nvSpPr>
        <p:spPr>
          <a:xfrm>
            <a:off x="4118325" y="2806000"/>
            <a:ext cx="4377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400" b="1">
                <a:latin typeface="Times New Roman"/>
              </a:rPr>
              <a:t>Thank you</a:t>
            </a:r>
            <a:endParaRPr sz="4500"/>
          </a:p>
        </p:txBody>
      </p:sp>
      <p:sp>
        <p:nvSpPr>
          <p:cNvPr id="245" name="Google Shape;245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"/>
    </mc:Choice>
    <mc:Fallback xmlns="">
      <p:transition spd="slow" advTm="317"/>
    </mc:Fallback>
  </mc:AlternateContent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1192</Words>
  <Application>Microsoft Office PowerPoint</Application>
  <PresentationFormat>Widescreen</PresentationFormat>
  <Paragraphs>181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Noto Sans Symbols</vt:lpstr>
      <vt:lpstr>Times New Roman</vt:lpstr>
      <vt:lpstr>Flow</vt:lpstr>
      <vt:lpstr>SMARTPCB-XAI: A Dual-Head Deep Learning Framework for Explainable PCB Inspection, Deterministic Quality Auditing, and Digital Twin Synthesis</vt:lpstr>
      <vt:lpstr>PowerPoint Presentation</vt:lpstr>
      <vt:lpstr>Introduction</vt:lpstr>
      <vt:lpstr>Literature Review</vt:lpstr>
      <vt:lpstr>Literature Review</vt:lpstr>
      <vt:lpstr>Summary of Literature Review</vt:lpstr>
      <vt:lpstr>PowerPoint Presentation</vt:lpstr>
      <vt:lpstr>PowerPoint Presentation</vt:lpstr>
      <vt:lpstr>Software / Tools Used</vt:lpstr>
      <vt:lpstr>Description of Each Phase/Block</vt:lpstr>
      <vt:lpstr>Screenshots</vt:lpstr>
      <vt:lpstr>PowerPoint Presentation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Aravind Balaji C</dc:creator>
  <cp:lastModifiedBy>Gowri D</cp:lastModifiedBy>
  <cp:revision>36</cp:revision>
  <dcterms:modified xsi:type="dcterms:W3CDTF">2026-10-13T05:53:50Z</dcterms:modified>
</cp:coreProperties>
</file>